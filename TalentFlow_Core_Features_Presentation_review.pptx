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457200"/>
            <a:ext cx="11277295" cy="5943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400" b="1">
                <a:solidFill>
                  <a:srgbClr val="4F46E5"/>
                </a:solidFill>
                <a:latin typeface="Arial"/>
              </a:defRPr>
            </a:pPr>
            <a:r>
              <a:t>TALENTFLOW</a:t>
            </a:r>
          </a:p>
          <a:p>
            <a:pPr algn="ctr">
              <a:spcBef>
                <a:spcPts val="1500"/>
              </a:spcBef>
              <a:defRPr sz="2600" b="1">
                <a:solidFill>
                  <a:srgbClr val="0F172A"/>
                </a:solidFill>
              </a:defRPr>
            </a:pPr>
            <a:r>
              <a:t>AI-Powered Recruitment Automation Platform</a:t>
            </a:r>
          </a:p>
          <a:p>
            <a:pPr algn="ctr">
              <a:spcBef>
                <a:spcPts val="1200"/>
              </a:spcBef>
              <a:defRPr sz="1600">
                <a:solidFill>
                  <a:srgbClr val="475569"/>
                </a:solidFill>
              </a:defRPr>
            </a:pPr>
            <a:r>
              <a:t>Streamlining the entire hiring lifecycle — from resume sourcing to candidate evaluation</a:t>
            </a:r>
          </a:p>
          <a:p>
            <a:pPr algn="ctr">
              <a:spcBef>
                <a:spcPts val="2400"/>
              </a:spcBef>
              <a:defRPr sz="1400" b="1">
                <a:solidFill>
                  <a:srgbClr val="0E7490"/>
                </a:solidFill>
              </a:defRPr>
            </a:pPr>
            <a:r>
              <a:t>Generative AI  •  Semantic Search  •  Email Automation  •  Smart Match &amp; Interview Generation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F46E5"/>
                </a:solidFill>
                <a:latin typeface="Arial"/>
              </a:defRPr>
            </a:pPr>
            <a:r>
              <a:t>THE RECRUITING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The Problem Statement: Recruitment Bottlenecks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5486400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51206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B91C1C"/>
                </a:solidFill>
              </a:defRPr>
            </a:pPr>
            <a:r>
              <a:t>OPERATIONAL INEFFICIENCY</a:t>
            </a:r>
          </a:p>
          <a:p>
            <a:pPr>
              <a:spcBef>
                <a:spcPts val="500"/>
              </a:spcBef>
              <a:defRPr sz="2200" b="1">
                <a:solidFill>
                  <a:srgbClr val="0F172A"/>
                </a:solidFill>
              </a:defRPr>
            </a:pPr>
            <a:r>
              <a:t>Manual Screening &amp; Fragmentation</a:t>
            </a:r>
          </a:p>
          <a:p>
            <a:pPr>
              <a:spcBef>
                <a:spcPts val="1400"/>
              </a:spcBef>
              <a:defRPr sz="1450">
                <a:solidFill>
                  <a:srgbClr val="475569"/>
                </a:solidFill>
              </a:defRPr>
            </a:pPr>
            <a:r>
              <a:t>• Time-Intensive Screening: Recruiters spend an average of 23 hours reviewing resumes per hire, creating major delays.</a:t>
            </a:r>
          </a:p>
          <a:p>
            <a:pPr>
              <a:spcBef>
                <a:spcPts val="1400"/>
              </a:spcBef>
              <a:defRPr sz="1450">
                <a:solidFill>
                  <a:srgbClr val="475569"/>
                </a:solidFill>
              </a:defRPr>
            </a:pPr>
            <a:r>
              <a:t>• Inbox Overload: Resumes arrive scattered across multiple email servers (Gmail, Outlook). Downloading and sorting attachments manually is slow.</a:t>
            </a:r>
          </a:p>
          <a:p>
            <a:pPr>
              <a:spcBef>
                <a:spcPts val="1400"/>
              </a:spcBef>
              <a:defRPr sz="1450">
                <a:solidFill>
                  <a:srgbClr val="475569"/>
                </a:solidFill>
              </a:defRPr>
            </a:pPr>
            <a:r>
              <a:t>• Poor Pipeline Tracking: Managing candidate progress in spreadsheets leads to missed dates, lost CVs, and slow communication.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280160"/>
            <a:ext cx="5486400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463040"/>
            <a:ext cx="51206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B91C1C"/>
                </a:solidFill>
              </a:defRPr>
            </a:pPr>
            <a:r>
              <a:t>TECHNOLOGICAL LIMITS</a:t>
            </a:r>
          </a:p>
          <a:p>
            <a:pPr>
              <a:spcBef>
                <a:spcPts val="500"/>
              </a:spcBef>
              <a:defRPr sz="2200" b="1">
                <a:solidFill>
                  <a:srgbClr val="0F172A"/>
                </a:solidFill>
              </a:defRPr>
            </a:pPr>
            <a:r>
              <a:t>Keyword Matchers &amp; Biased Prep</a:t>
            </a:r>
          </a:p>
          <a:p>
            <a:pPr>
              <a:spcBef>
                <a:spcPts val="1400"/>
              </a:spcBef>
              <a:defRPr sz="1450">
                <a:solidFill>
                  <a:srgbClr val="475569"/>
                </a:solidFill>
              </a:defRPr>
            </a:pPr>
            <a:r>
              <a:t>• Keyword-Only Search: Traditional ATS systems miss candidates due to exact word queries (e.g. 'Node.js Developer' ignoring 'Express.js Engineer').</a:t>
            </a:r>
          </a:p>
          <a:p>
            <a:pPr>
              <a:spcBef>
                <a:spcPts val="1400"/>
              </a:spcBef>
              <a:defRPr sz="1450">
                <a:solidFill>
                  <a:srgbClr val="475569"/>
                </a:solidFill>
              </a:defRPr>
            </a:pPr>
            <a:r>
              <a:t>• Inconsistent Evaluation: No objective scoring exists. Candidates are interviewed on subjective standards without structured checklists.</a:t>
            </a:r>
          </a:p>
          <a:p>
            <a:pPr>
              <a:spcBef>
                <a:spcPts val="1400"/>
              </a:spcBef>
              <a:defRPr sz="1450">
                <a:solidFill>
                  <a:srgbClr val="475569"/>
                </a:solidFill>
              </a:defRPr>
            </a:pPr>
            <a:r>
              <a:t>• Unprepared Interview Panels: Hiring managers ask mismatched or generic questions, failing to test candidate skills effectively.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F46E5"/>
                </a:solidFill>
                <a:latin typeface="Arial"/>
              </a:defRPr>
            </a:pPr>
            <a:r>
              <a:t>TALENTFLOW ADVANTAGE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The Solution: Resilient Recruitment Intelligence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5486400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51206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66534"/>
                </a:solidFill>
              </a:defRPr>
            </a:pPr>
            <a:r>
              <a:t>AUTOMATED CHANNELS</a:t>
            </a:r>
          </a:p>
          <a:p>
            <a:pPr>
              <a:spcBef>
                <a:spcPts val="500"/>
              </a:spcBef>
              <a:defRPr sz="2200" b="1">
                <a:solidFill>
                  <a:srgbClr val="0F172A"/>
                </a:solidFill>
              </a:defRPr>
            </a:pPr>
            <a:r>
              <a:t>Sourcing, Parsing &amp; OCR</a:t>
            </a:r>
          </a:p>
          <a:p>
            <a:pPr>
              <a:spcBef>
                <a:spcPts val="1400"/>
              </a:spcBef>
              <a:defRPr sz="1450">
                <a:solidFill>
                  <a:srgbClr val="475569"/>
                </a:solidFill>
              </a:defRPr>
            </a:pPr>
            <a:r>
              <a:t>• Dynamic Email Pollers: Continual background sync scans Gmail (IMAP) &amp; Outlook (Graph API) to capture resumes automatically.</a:t>
            </a:r>
          </a:p>
          <a:p>
            <a:pPr>
              <a:spcBef>
                <a:spcPts val="1400"/>
              </a:spcBef>
              <a:defRPr sz="1450">
                <a:solidFill>
                  <a:srgbClr val="475569"/>
                </a:solidFill>
              </a:defRPr>
            </a:pPr>
            <a:r>
              <a:t>• AI Parsing &amp; OCR Ingest: Parses raw PDF/Docx text into database structures, falling back to Python Tesseract OCR for scanned files.</a:t>
            </a:r>
          </a:p>
          <a:p>
            <a:pPr>
              <a:spcBef>
                <a:spcPts val="1400"/>
              </a:spcBef>
              <a:defRPr sz="1450">
                <a:solidFill>
                  <a:srgbClr val="475569"/>
                </a:solidFill>
              </a:defRPr>
            </a:pPr>
            <a:r>
              <a:t>• Duplicate Resolution Flow: Prevents candidate database clutter via a 4-option duplicate candidate management flow.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280160"/>
            <a:ext cx="5486400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463040"/>
            <a:ext cx="51206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66534"/>
                </a:solidFill>
              </a:defRPr>
            </a:pPr>
            <a:r>
              <a:t>INTELLIGENT RECRUITING</a:t>
            </a:r>
          </a:p>
          <a:p>
            <a:pPr>
              <a:spcBef>
                <a:spcPts val="500"/>
              </a:spcBef>
              <a:defRPr sz="2200" b="1">
                <a:solidFill>
                  <a:srgbClr val="0F172A"/>
                </a:solidFill>
              </a:defRPr>
            </a:pPr>
            <a:r>
              <a:t>RAG, JD Score &amp; Interview Prep</a:t>
            </a:r>
          </a:p>
          <a:p>
            <a:pPr>
              <a:spcBef>
                <a:spcPts val="1400"/>
              </a:spcBef>
              <a:defRPr sz="1450">
                <a:solidFill>
                  <a:srgbClr val="475569"/>
                </a:solidFill>
              </a:defRPr>
            </a:pPr>
            <a:r>
              <a:t>• Semantic Search (RAG): Maps queries to vectors for conceptual match, allowing searches like 'Node.js' to find 'Express.js' profiles.</a:t>
            </a:r>
          </a:p>
          <a:p>
            <a:pPr>
              <a:spcBef>
                <a:spcPts val="1400"/>
              </a:spcBef>
              <a:defRPr sz="1450">
                <a:solidFill>
                  <a:srgbClr val="475569"/>
                </a:solidFill>
              </a:defRPr>
            </a:pPr>
            <a:r>
              <a:t>• Objective JD Match: Ranks candidates (0-100%) against JDs with detailed missing/matching skill metrics and AI reasoning.</a:t>
            </a:r>
          </a:p>
          <a:p>
            <a:pPr>
              <a:spcBef>
                <a:spcPts val="1400"/>
              </a:spcBef>
              <a:defRPr sz="1450">
                <a:solidFill>
                  <a:srgbClr val="475569"/>
                </a:solidFill>
              </a:defRPr>
            </a:pPr>
            <a:r>
              <a:t>• Custom Question Banks: Auto-generates HR &amp; technical question guides with correct answers, sorted by criticality (Must Ask, optional).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F46E5"/>
                </a:solidFill>
                <a:latin typeface="Arial"/>
              </a:defRPr>
            </a:pPr>
            <a:r>
              <a:t>INPUT METHODS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Candidate Sourcing: Automated Input Channels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2743200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463040"/>
            <a:ext cx="24688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F46E5"/>
                </a:solidFill>
              </a:defRPr>
            </a:pPr>
            <a:r>
              <a:t>METHOD 01</a:t>
            </a:r>
          </a:p>
          <a:p>
            <a:pPr>
              <a:spcBef>
                <a:spcPts val="1000"/>
              </a:spcBef>
              <a:defRPr sz="1900" b="1">
                <a:solidFill>
                  <a:srgbClr val="0F172A"/>
                </a:solidFill>
              </a:defRPr>
            </a:pPr>
            <a:r>
              <a:t>Direct Upload</a:t>
            </a:r>
          </a:p>
          <a:p>
            <a:pPr>
              <a:spcBef>
                <a:spcPts val="1400"/>
              </a:spcBef>
              <a:defRPr sz="1300">
                <a:solidFill>
                  <a:srgbClr val="475569"/>
                </a:solidFill>
              </a:defRPr>
            </a:pPr>
            <a:r>
              <a:t>Allows recruiters to drag and drop single or bulk resume files. Accepts PDF &amp; DOCX formats. Immediately runs text parsing and database indexing.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01898" y="1280160"/>
            <a:ext cx="2743200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39058" y="1463040"/>
            <a:ext cx="24688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B91C1C"/>
                </a:solidFill>
              </a:defRPr>
            </a:pPr>
            <a:r>
              <a:t>METHOD 02</a:t>
            </a:r>
          </a:p>
          <a:p>
            <a:pPr>
              <a:spcBef>
                <a:spcPts val="1000"/>
              </a:spcBef>
              <a:defRPr sz="1900" b="1">
                <a:solidFill>
                  <a:srgbClr val="0F172A"/>
                </a:solidFill>
              </a:defRPr>
            </a:pPr>
            <a:r>
              <a:t>Gmail IMAP Sync</a:t>
            </a:r>
          </a:p>
          <a:p>
            <a:pPr>
              <a:spcBef>
                <a:spcPts val="1400"/>
              </a:spcBef>
              <a:defRPr sz="1300">
                <a:solidFill>
                  <a:srgbClr val="475569"/>
                </a:solidFill>
              </a:defRPr>
            </a:pPr>
            <a:r>
              <a:t>Background sync loop polls Gmail folders every 30s using app password connection. Downloads PDF attachments and logs processed UIDs to avoid double imports.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46596" y="1280160"/>
            <a:ext cx="2743200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83756" y="1463040"/>
            <a:ext cx="24688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7490"/>
                </a:solidFill>
              </a:defRPr>
            </a:pPr>
            <a:r>
              <a:t>METHOD 03</a:t>
            </a:r>
          </a:p>
          <a:p>
            <a:pPr>
              <a:spcBef>
                <a:spcPts val="1000"/>
              </a:spcBef>
              <a:defRPr sz="1900" b="1">
                <a:solidFill>
                  <a:srgbClr val="0F172A"/>
                </a:solidFill>
              </a:defRPr>
            </a:pPr>
            <a:r>
              <a:t>Outlook API Connection</a:t>
            </a:r>
          </a:p>
          <a:p>
            <a:pPr>
              <a:spcBef>
                <a:spcPts val="1400"/>
              </a:spcBef>
              <a:defRPr sz="1300">
                <a:solidFill>
                  <a:srgbClr val="475569"/>
                </a:solidFill>
              </a:defRPr>
            </a:pPr>
            <a:r>
              <a:t>Secured Microsoft Graph OAuth 2.0 flow. Fetches unread emails, parses attachments, and enables direct platform email replies.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91294" y="1280160"/>
            <a:ext cx="2743200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28454" y="1463040"/>
            <a:ext cx="24688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66534"/>
                </a:solidFill>
              </a:defRPr>
            </a:pPr>
            <a:r>
              <a:t>METHOD 04</a:t>
            </a:r>
          </a:p>
          <a:p>
            <a:pPr>
              <a:spcBef>
                <a:spcPts val="1000"/>
              </a:spcBef>
              <a:defRPr sz="1900" b="1">
                <a:solidFill>
                  <a:srgbClr val="0F172A"/>
                </a:solidFill>
              </a:defRPr>
            </a:pPr>
            <a:r>
              <a:t>Auto Poller Loop</a:t>
            </a:r>
          </a:p>
          <a:p>
            <a:pPr>
              <a:spcBef>
                <a:spcPts val="1400"/>
              </a:spcBef>
              <a:defRPr sz="1300">
                <a:solidFill>
                  <a:srgbClr val="475569"/>
                </a:solidFill>
              </a:defRPr>
            </a:pPr>
            <a:r>
              <a:t>A unified background poller checks settings to run the correct email pipeline, categorizing spam out and auto-importing applicants.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F46E5"/>
                </a:solidFill>
                <a:latin typeface="Arial"/>
              </a:defRPr>
            </a:pPr>
            <a:r>
              <a:t>DATA CONFLICT RESOLUTION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Ingestion Control &amp; Duplicate Candidate 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4572000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4206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D97706"/>
                </a:solidFill>
              </a:defRPr>
            </a:pPr>
            <a:r>
              <a:t>INTELLIGENT DEDUPLICATION</a:t>
            </a:r>
          </a:p>
          <a:p>
            <a:pPr>
              <a:spcBef>
                <a:spcPts val="500"/>
              </a:spcBef>
              <a:defRPr sz="2200" b="1">
                <a:solidFill>
                  <a:srgbClr val="0F172A"/>
                </a:solidFill>
              </a:defRPr>
            </a:pPr>
            <a:r>
              <a:t>How Conflicts are Spotted</a:t>
            </a:r>
          </a:p>
          <a:p>
            <a:pPr>
              <a:spcBef>
                <a:spcPts val="1500"/>
              </a:spcBef>
              <a:defRPr sz="1400">
                <a:solidFill>
                  <a:srgbClr val="475569"/>
                </a:solidFill>
              </a:defRPr>
            </a:pPr>
            <a:r>
              <a:t>• Email Verification: Matches incoming candidates against database records using case-insensitive email regex checking.</a:t>
            </a:r>
          </a:p>
          <a:p>
            <a:pPr>
              <a:spcBef>
                <a:spcPts val="1500"/>
              </a:spcBef>
              <a:defRPr sz="1400">
                <a:solidFill>
                  <a:srgbClr val="475569"/>
                </a:solidFill>
              </a:defRPr>
            </a:pPr>
            <a:r>
              <a:t>• Name Matching: Employs case-insensitive name matching to catch candidates applying with alternative email accounts.</a:t>
            </a:r>
          </a:p>
          <a:p>
            <a:pPr>
              <a:spcBef>
                <a:spcPts val="1500"/>
              </a:spcBef>
              <a:defRPr sz="1400">
                <a:solidFill>
                  <a:srgbClr val="475569"/>
                </a:solidFill>
              </a:defRPr>
            </a:pPr>
            <a:r>
              <a:t>• Atomic Upserts: Prevents simultaneous ingestion write conflicts via MongoDB atomic checks.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03520" y="1280160"/>
            <a:ext cx="6400800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0" y="1463040"/>
            <a:ext cx="6035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4F46E5"/>
                </a:solidFill>
              </a:defRPr>
            </a:pPr>
            <a:r>
              <a:t>CONFLICT DECISION FLOW</a:t>
            </a:r>
          </a:p>
          <a:p>
            <a:pPr>
              <a:spcBef>
                <a:spcPts val="500"/>
              </a:spcBef>
              <a:defRPr sz="2200" b="1">
                <a:solidFill>
                  <a:srgbClr val="0F172A"/>
                </a:solidFill>
              </a:defRPr>
            </a:pPr>
            <a:r>
              <a:t>Four Resolution Options Offered to User</a:t>
            </a:r>
          </a:p>
          <a:p>
            <a:pPr>
              <a:spcBef>
                <a:spcPts val="1000"/>
              </a:spcBef>
              <a:defRPr sz="1400" b="1">
                <a:solidFill>
                  <a:srgbClr val="0E7490"/>
                </a:solidFill>
              </a:defRPr>
            </a:pPr>
            <a:r>
              <a:t>1. Update (Overwrite Existing Info &amp; CV)</a:t>
            </a:r>
          </a:p>
          <a:p>
            <a:pPr>
              <a:spcBef>
                <a:spcPts val="200"/>
              </a:spcBef>
              <a:defRPr sz="1200">
                <a:solidFill>
                  <a:srgbClr val="475569"/>
                </a:solidFill>
              </a:defRPr>
            </a:pPr>
            <a:r>
              <a:t>Retains current Candidate ID, updates experience, education, skills, and replaces PDF resume file with new upload. Triggers scoring re-runs.</a:t>
            </a:r>
          </a:p>
          <a:p>
            <a:pPr>
              <a:spcBef>
                <a:spcPts val="1000"/>
              </a:spcBef>
              <a:defRPr sz="1400" b="1">
                <a:solidFill>
                  <a:srgbClr val="0E7490"/>
                </a:solidFill>
              </a:defRPr>
            </a:pPr>
            <a:r>
              <a:t>2. Delete Existing &amp; Import New</a:t>
            </a:r>
          </a:p>
          <a:p>
            <a:pPr>
              <a:spcBef>
                <a:spcPts val="200"/>
              </a:spcBef>
              <a:defRPr sz="1200">
                <a:solidFill>
                  <a:srgbClr val="475569"/>
                </a:solidFill>
              </a:defRPr>
            </a:pPr>
            <a:r>
              <a:t>Wipes the previous profile (including history and indices) and imports the new resume fresh, assigning a new Candidate ID.</a:t>
            </a:r>
          </a:p>
          <a:p>
            <a:pPr>
              <a:spcBef>
                <a:spcPts val="1000"/>
              </a:spcBef>
              <a:defRPr sz="1400" b="1">
                <a:solidFill>
                  <a:srgbClr val="0E7490"/>
                </a:solidFill>
              </a:defRPr>
            </a:pPr>
            <a:r>
              <a:t>3. Delete Existing Only (Halt Import)</a:t>
            </a:r>
          </a:p>
          <a:p>
            <a:pPr>
              <a:spcBef>
                <a:spcPts val="200"/>
              </a:spcBef>
              <a:defRPr sz="1200">
                <a:solidFill>
                  <a:srgbClr val="475569"/>
                </a:solidFill>
              </a:defRPr>
            </a:pPr>
            <a:r>
              <a:t>Deletes the existing candidate from the database entirely, while discarding the newly uploaded file without importing it.</a:t>
            </a:r>
          </a:p>
          <a:p>
            <a:pPr>
              <a:spcBef>
                <a:spcPts val="1000"/>
              </a:spcBef>
              <a:defRPr sz="1400" b="1">
                <a:solidFill>
                  <a:srgbClr val="0E7490"/>
                </a:solidFill>
              </a:defRPr>
            </a:pPr>
            <a:r>
              <a:t>4. Cancel (Discard Uploaded File)</a:t>
            </a:r>
          </a:p>
          <a:p>
            <a:pPr>
              <a:spcBef>
                <a:spcPts val="200"/>
              </a:spcBef>
              <a:defRPr sz="1200">
                <a:solidFill>
                  <a:srgbClr val="475569"/>
                </a:solidFill>
              </a:defRPr>
            </a:pPr>
            <a:r>
              <a:t>Keeps the existing candidate database profile untouched, immediately deleting the new temporary file from the server.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F46E5"/>
                </a:solidFill>
                <a:latin typeface="Arial"/>
              </a:defRPr>
            </a:pPr>
            <a:r>
              <a:t>PROFILE INGESTION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Smart Resume Ingestion: AI &amp; OCR Parser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5486400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51206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4F46E5"/>
                </a:solidFill>
              </a:defRPr>
            </a:pPr>
            <a:r>
              <a:t>DOCUMENT EXTRACTION PIPELINE</a:t>
            </a:r>
          </a:p>
          <a:p>
            <a:pPr>
              <a:spcBef>
                <a:spcPts val="500"/>
              </a:spcBef>
              <a:defRPr sz="2200" b="1">
                <a:solidFill>
                  <a:srgbClr val="0F172A"/>
                </a:solidFill>
              </a:defRPr>
            </a:pPr>
            <a:r>
              <a:t>Resume Parsing Mechanics</a:t>
            </a:r>
          </a:p>
          <a:p>
            <a:pPr>
              <a:spcBef>
                <a:spcPts val="1400"/>
              </a:spcBef>
              <a:defRPr sz="1400">
                <a:solidFill>
                  <a:srgbClr val="475569"/>
                </a:solidFill>
              </a:defRPr>
            </a:pPr>
            <a:r>
              <a:t>• Multi-Format Parser: Extracts textual details from PDF, DOCX, TXT, RTF, and MD files.</a:t>
            </a:r>
          </a:p>
          <a:p>
            <a:pPr>
              <a:spcBef>
                <a:spcPts val="1400"/>
              </a:spcBef>
              <a:defRPr sz="1400">
                <a:solidFill>
                  <a:srgbClr val="475569"/>
                </a:solidFill>
              </a:defRPr>
            </a:pPr>
            <a:r>
              <a:t>• PDF.js Core: Extracts text segments directly using web-standard client libraries for high speed.</a:t>
            </a:r>
          </a:p>
          <a:p>
            <a:pPr>
              <a:spcBef>
                <a:spcPts val="1400"/>
              </a:spcBef>
              <a:defRPr sz="1400">
                <a:solidFill>
                  <a:srgbClr val="475569"/>
                </a:solidFill>
              </a:defRPr>
            </a:pPr>
            <a:r>
              <a:t>• Tesseract OCR Fallback: Runs a Python subprocess utilizing Tesseract to extract content if the PDF is scanned or image-based.</a:t>
            </a:r>
          </a:p>
          <a:p>
            <a:pPr>
              <a:spcBef>
                <a:spcPts val="1400"/>
              </a:spcBef>
              <a:defRPr sz="1400">
                <a:solidFill>
                  <a:srgbClr val="475569"/>
                </a:solidFill>
              </a:defRPr>
            </a:pPr>
            <a:r>
              <a:t>• JSON Repair Engine: Employs regex filters and structural bracket matching to repair malformed LLM outputs and avoid crashes.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280160"/>
            <a:ext cx="5486400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55448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4F46E5"/>
                </a:solidFill>
              </a:defRPr>
            </a:pPr>
            <a:r>
              <a:t>Extracted Candidate Schema Model:</a:t>
            </a:r>
          </a:p>
          <a:p>
            <a:pPr>
              <a:spcBef>
                <a:spcPts val="1500"/>
              </a:spcBef>
              <a:defRPr sz="1200">
                <a:solidFill>
                  <a:srgbClr val="0E7490"/>
                </a:solidFill>
                <a:latin typeface="Consolas"/>
              </a:defRPr>
            </a:pPr>
            <a:r>
              <a:t>{</a:t>
            </a:r>
            <a:br/>
            <a:r>
              <a:t>  "name": "John Doe",</a:t>
            </a:r>
            <a:br/>
            <a:r>
              <a:t>  "email": "john@example.com",</a:t>
            </a:r>
            <a:br/>
            <a:r>
              <a:t>  "skills": ["React", "Node.js", "AWS"],</a:t>
            </a:r>
            <a:br/>
            <a:r>
              <a:t>  "experience": [</a:t>
            </a:r>
            <a:br/>
            <a:r>
              <a:t>    {</a:t>
            </a:r>
            <a:br/>
            <a:r>
              <a:t>      "role": "Backend Engineer",</a:t>
            </a:r>
            <a:br/>
            <a:r>
              <a:t>      "company": "TechCorp",</a:t>
            </a:r>
            <a:br/>
            <a:r>
              <a:t>      "duration": "3 years 4 months"</a:t>
            </a:r>
            <a:br/>
            <a:r>
              <a:t>    }</a:t>
            </a:r>
            <a:br/>
            <a:r>
              <a:t>  ],</a:t>
            </a:r>
            <a:br/>
            <a:r>
              <a:t>  "seniorityLevel": "Senior",</a:t>
            </a:r>
            <a:br/>
            <a:r>
              <a:t>  "tags": [{"value": "Backend", "category": "Domain"}]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F46E5"/>
                </a:solidFill>
                <a:latin typeface="Arial"/>
              </a:defRPr>
            </a:pPr>
            <a:r>
              <a:t>AI SERVICE CONFIGURATION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Multi-Provider AI &amp; Model Settings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5486400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51206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4F46E5"/>
                </a:solidFill>
              </a:defRPr>
            </a:pPr>
            <a:r>
              <a:t>PLUG-AND-PLAY AI LAYERS</a:t>
            </a:r>
          </a:p>
          <a:p>
            <a:pPr>
              <a:spcBef>
                <a:spcPts val="500"/>
              </a:spcBef>
              <a:defRPr sz="2200" b="1">
                <a:solidFill>
                  <a:srgbClr val="0F172A"/>
                </a:solidFill>
              </a:defRPr>
            </a:pPr>
            <a:r>
              <a:t>Supported Models &amp; APIs</a:t>
            </a:r>
          </a:p>
          <a:p>
            <a:pPr>
              <a:spcBef>
                <a:spcPts val="1400"/>
              </a:spcBef>
              <a:defRPr sz="1400">
                <a:solidFill>
                  <a:srgbClr val="475569"/>
                </a:solidFill>
              </a:defRPr>
            </a:pPr>
            <a:r>
              <a:t>• Google Gemini: Connects directly to gemini-2.0-flash using standard developer API keys.</a:t>
            </a:r>
          </a:p>
          <a:p>
            <a:pPr>
              <a:spcBef>
                <a:spcPts val="1400"/>
              </a:spcBef>
              <a:defRPr sz="1400">
                <a:solidFill>
                  <a:srgbClr val="475569"/>
                </a:solidFill>
              </a:defRPr>
            </a:pPr>
            <a:r>
              <a:t>• OpenAI: Dispatches to GPT-4o for parsing and evaluations.</a:t>
            </a:r>
          </a:p>
          <a:p>
            <a:pPr>
              <a:spcBef>
                <a:spcPts val="1400"/>
              </a:spcBef>
              <a:defRPr sz="1400">
                <a:solidFill>
                  <a:srgbClr val="475569"/>
                </a:solidFill>
              </a:defRPr>
            </a:pPr>
            <a:r>
              <a:t>• Anthropic Claude: Integrated with Claude 3.5 Sonnet.</a:t>
            </a:r>
          </a:p>
          <a:p>
            <a:pPr>
              <a:spcBef>
                <a:spcPts val="1400"/>
              </a:spcBef>
              <a:defRPr sz="1400">
                <a:solidFill>
                  <a:srgbClr val="475569"/>
                </a:solidFill>
              </a:defRPr>
            </a:pPr>
            <a:r>
              <a:t>• OpenRouter: Allows routing requests to 100+ cloud LLMs via a single sk-or-* prefixed API key.</a:t>
            </a:r>
          </a:p>
          <a:p>
            <a:pPr>
              <a:spcBef>
                <a:spcPts val="1400"/>
              </a:spcBef>
              <a:defRPr sz="1400">
                <a:solidFill>
                  <a:srgbClr val="475569"/>
                </a:solidFill>
              </a:defRPr>
            </a:pPr>
            <a:r>
              <a:t>• Ollama (Local LLM): Connects to local endpoints (e.g. LLaMA3) for offline usage and data confidentiality.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280160"/>
            <a:ext cx="5486400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463040"/>
            <a:ext cx="51206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E7490"/>
                </a:solidFill>
              </a:defRPr>
            </a:pPr>
            <a:r>
              <a:t>ROBUSTNESS &amp; OPTIMIZATION</a:t>
            </a:r>
          </a:p>
          <a:p>
            <a:pPr>
              <a:spcBef>
                <a:spcPts val="500"/>
              </a:spcBef>
              <a:defRPr sz="2200" b="1">
                <a:solidFill>
                  <a:srgbClr val="0F172A"/>
                </a:solidFill>
              </a:defRPr>
            </a:pPr>
            <a:r>
              <a:t>AI Operations &amp; Stability</a:t>
            </a:r>
          </a:p>
          <a:p>
            <a:pPr>
              <a:spcBef>
                <a:spcPts val="1400"/>
              </a:spcBef>
              <a:defRPr sz="1350">
                <a:solidFill>
                  <a:srgbClr val="475569"/>
                </a:solidFill>
              </a:defRPr>
            </a:pPr>
            <a:r>
              <a:t>• Connection Checks: Settings UI offers test-connection endpoints for Ollama, Gmail, and Outlook to verify integrations before saving.</a:t>
            </a:r>
          </a:p>
          <a:p>
            <a:pPr>
              <a:spcBef>
                <a:spcPts val="1400"/>
              </a:spcBef>
              <a:defRPr sz="1350">
                <a:solidFill>
                  <a:srgbClr val="475569"/>
                </a:solidFill>
              </a:defRPr>
            </a:pPr>
            <a:r>
              <a:t>• Ollama Context Optimization: Dynamically shrinks local prompt schemas to avoid high pre-processing latency.</a:t>
            </a:r>
          </a:p>
          <a:p>
            <a:pPr>
              <a:spcBef>
                <a:spcPts val="1400"/>
              </a:spcBef>
              <a:defRPr sz="1350">
                <a:solidFill>
                  <a:srgbClr val="475569"/>
                </a:solidFill>
              </a:defRPr>
            </a:pPr>
            <a:r>
              <a:t>• High Output Limits: Enforces at least 8000 max_tokens for candidate analysis &amp; question generators to prevent JSON truncation.</a:t>
            </a:r>
          </a:p>
          <a:p>
            <a:pPr>
              <a:spcBef>
                <a:spcPts val="1400"/>
              </a:spcBef>
              <a:defRPr sz="1350">
                <a:solidFill>
                  <a:srgbClr val="475569"/>
                </a:solidFill>
              </a:defRPr>
            </a:pPr>
            <a:r>
              <a:t>• Stateless Fallbacks: If AI APIs fail, fallback routines preserve database status without losing uploaded resume files.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F46E5"/>
                </a:solidFill>
                <a:latin typeface="Arial"/>
              </a:defRPr>
            </a:pPr>
            <a:r>
              <a:t>AI SEARCH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Advanced Semantic Search (RAG Engine)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5486400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51206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E7490"/>
                </a:solidFill>
              </a:defRPr>
            </a:pPr>
            <a:r>
              <a:t>CONCEPTUAL SEARCH RETRIEVAL</a:t>
            </a:r>
          </a:p>
          <a:p>
            <a:pPr>
              <a:spcBef>
                <a:spcPts val="500"/>
              </a:spcBef>
              <a:defRPr sz="2200" b="1">
                <a:solidFill>
                  <a:srgbClr val="0F172A"/>
                </a:solidFill>
              </a:defRPr>
            </a:pPr>
            <a:r>
              <a:t>RAG &amp; Vector Embeddings</a:t>
            </a:r>
          </a:p>
          <a:p>
            <a:pPr>
              <a:spcBef>
                <a:spcPts val="1400"/>
              </a:spcBef>
              <a:defRPr sz="1400">
                <a:solidFill>
                  <a:srgbClr val="475569"/>
                </a:solidFill>
              </a:defRPr>
            </a:pPr>
            <a:r>
              <a:t>• Chunk-Level Indexing: Splits resumes into sections (contact, skills, experience, projects) to store embeddings in MongoDB.</a:t>
            </a:r>
          </a:p>
          <a:p>
            <a:pPr>
              <a:spcBef>
                <a:spcPts val="1400"/>
              </a:spcBef>
              <a:defRPr sz="1400">
                <a:solidFill>
                  <a:srgbClr val="475569"/>
                </a:solidFill>
              </a:defRPr>
            </a:pPr>
            <a:r>
              <a:t>• Semantic Vector Search: Translates natural language queries into embeddings to locate contextually relevant candidate chunks.</a:t>
            </a:r>
          </a:p>
          <a:p>
            <a:pPr>
              <a:spcBef>
                <a:spcPts val="1400"/>
              </a:spcBef>
              <a:defRPr sz="1400">
                <a:solidFill>
                  <a:srgbClr val="475569"/>
                </a:solidFill>
              </a:defRPr>
            </a:pPr>
            <a:r>
              <a:t>• AI Q&amp;A Chatbot: An interactive 'Ask AI' chat panel answers recruiter questions using relevant candidates as context.</a:t>
            </a:r>
          </a:p>
          <a:p>
            <a:pPr>
              <a:spcBef>
                <a:spcPts val="1400"/>
              </a:spcBef>
              <a:defRPr sz="1400">
                <a:solidFill>
                  <a:srgbClr val="475569"/>
                </a:solidFill>
              </a:defRPr>
            </a:pPr>
            <a:r>
              <a:t>• Keyword Fallback: Seamless token matching checks for exact keyword matches if the vector API goes offline.</a:t>
            </a:r>
          </a:p>
        </p:txBody>
      </p:sp>
      <p:pic>
        <p:nvPicPr>
          <p:cNvPr id="6" name="Picture 5" descr="media__178366514766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280160"/>
            <a:ext cx="548640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F46E5"/>
                </a:solidFill>
                <a:latin typeface="Arial"/>
              </a:defRPr>
            </a:pPr>
            <a:r>
              <a:t>SEARCH METHODOLOGIES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High-Speed Tag &amp; Keyword Search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3657600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32918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F46E5"/>
                </a:solidFill>
              </a:defRPr>
            </a:pPr>
            <a:r>
              <a:t>METHOD 01</a:t>
            </a:r>
          </a:p>
          <a:p>
            <a:pPr>
              <a:spcBef>
                <a:spcPts val="1500"/>
              </a:spcBef>
              <a:defRPr sz="2000" b="1">
                <a:solidFill>
                  <a:srgbClr val="0F172A"/>
                </a:solidFill>
              </a:defRPr>
            </a:pPr>
            <a:r>
              <a:t>Trie Autocomplete</a:t>
            </a:r>
          </a:p>
          <a:p>
            <a:pPr>
              <a:spcBef>
                <a:spcPts val="1200"/>
              </a:spcBef>
              <a:defRPr sz="1400">
                <a:solidFill>
                  <a:srgbClr val="475569"/>
                </a:solidFill>
              </a:defRPr>
            </a:pPr>
            <a:r>
              <a:t>Indexes candidate tags and skills for instantaneous keystroke suggestions.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66590" y="1280160"/>
            <a:ext cx="3657600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49470" y="1463040"/>
            <a:ext cx="32918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7490"/>
                </a:solidFill>
              </a:defRPr>
            </a:pPr>
            <a:r>
              <a:t>METHOD 02</a:t>
            </a:r>
          </a:p>
          <a:p>
            <a:pPr>
              <a:spcBef>
                <a:spcPts val="1500"/>
              </a:spcBef>
              <a:defRPr sz="2000" b="1">
                <a:solidFill>
                  <a:srgbClr val="0F172A"/>
                </a:solidFill>
              </a:defRPr>
            </a:pPr>
            <a:r>
              <a:t>Trigram Fuzzy Match</a:t>
            </a:r>
          </a:p>
          <a:p>
            <a:pPr>
              <a:spcBef>
                <a:spcPts val="1200"/>
              </a:spcBef>
              <a:defRPr sz="1400">
                <a:solidFill>
                  <a:srgbClr val="475569"/>
                </a:solidFill>
              </a:defRPr>
            </a:pPr>
            <a:r>
              <a:t>Splits words into three-character tokens to match queries despite spelling mistakes.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75980" y="1280160"/>
            <a:ext cx="3657600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58860" y="1463040"/>
            <a:ext cx="32918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66534"/>
                </a:solidFill>
              </a:defRPr>
            </a:pPr>
            <a:r>
              <a:t>METHOD 03</a:t>
            </a:r>
          </a:p>
          <a:p>
            <a:pPr>
              <a:spcBef>
                <a:spcPts val="1500"/>
              </a:spcBef>
              <a:defRPr sz="2000" b="1">
                <a:solidFill>
                  <a:srgbClr val="0F172A"/>
                </a:solidFill>
              </a:defRPr>
            </a:pPr>
            <a:r>
              <a:t>Interactive Tag Cloud</a:t>
            </a:r>
          </a:p>
          <a:p>
            <a:pPr>
              <a:spcBef>
                <a:spcPts val="1200"/>
              </a:spcBef>
              <a:defRPr sz="1400">
                <a:solidFill>
                  <a:srgbClr val="475569"/>
                </a:solidFill>
              </a:defRPr>
            </a:pPr>
            <a:r>
              <a:t>Visualized tag list for rapid exploration of pool skills and counts.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F46E5"/>
                </a:solidFill>
                <a:latin typeface="Arial"/>
              </a:defRPr>
            </a:pPr>
            <a:r>
              <a:t>CANDIDATE RANKING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Job Description (JD) Matcher &amp; Reranking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5486400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51206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66534"/>
                </a:solidFill>
              </a:defRPr>
            </a:pPr>
            <a:r>
              <a:t>INTELLIGENT RANKING ALGORITHM</a:t>
            </a:r>
          </a:p>
          <a:p>
            <a:pPr>
              <a:spcBef>
                <a:spcPts val="500"/>
              </a:spcBef>
              <a:defRPr sz="2200" b="1">
                <a:solidFill>
                  <a:srgbClr val="0F172A"/>
                </a:solidFill>
              </a:defRPr>
            </a:pPr>
            <a:r>
              <a:t>JD Scoring &amp; Analysis</a:t>
            </a:r>
          </a:p>
          <a:p>
            <a:pPr>
              <a:spcBef>
                <a:spcPts val="1200"/>
              </a:spcBef>
              <a:defRPr sz="1350">
                <a:solidFill>
                  <a:srgbClr val="475569"/>
                </a:solidFill>
              </a:defRPr>
            </a:pPr>
            <a:r>
              <a:t>• Upload Job Description: Enter title, location, requirements, and description.</a:t>
            </a:r>
          </a:p>
          <a:p>
            <a:pPr>
              <a:spcBef>
                <a:spcPts val="1200"/>
              </a:spcBef>
              <a:defRPr sz="1350">
                <a:solidFill>
                  <a:srgbClr val="475569"/>
                </a:solidFill>
              </a:defRPr>
            </a:pPr>
            <a:r>
              <a:t>• Scoring Scale (0-100%): Ranks profiles objectively using AI models.</a:t>
            </a:r>
          </a:p>
          <a:p>
            <a:pPr>
              <a:spcBef>
                <a:spcPts val="1200"/>
              </a:spcBef>
              <a:defRPr sz="1350">
                <a:solidFill>
                  <a:srgbClr val="475569"/>
                </a:solidFill>
              </a:defRPr>
            </a:pPr>
            <a:r>
              <a:t>• Dual Scoring Modes: JD Match ranks candidates for a selected job, while Own-Category Score ranks them within their parsed specialization.</a:t>
            </a:r>
          </a:p>
          <a:p>
            <a:pPr>
              <a:spcBef>
                <a:spcPts val="1200"/>
              </a:spcBef>
              <a:defRPr sz="1350">
                <a:solidFill>
                  <a:srgbClr val="475569"/>
                </a:solidFill>
              </a:defRPr>
            </a:pPr>
            <a:r>
              <a:t>• Retrieve-and-Rerank: Uses vector search to pre-filter top candidates, scoring only matches via LLM to optimize speed and API costs.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280160"/>
            <a:ext cx="5486400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4F46E5"/>
                </a:solidFill>
              </a:defRPr>
            </a:pPr>
            <a:r>
              <a:t>JD Matching Logic Flow:</a:t>
            </a:r>
          </a:p>
          <a:p>
            <a:pPr>
              <a:spcBef>
                <a:spcPts val="2000"/>
              </a:spcBef>
              <a:defRPr sz="1400">
                <a:solidFill>
                  <a:srgbClr val="0F172A"/>
                </a:solidFill>
              </a:defRPr>
            </a:pPr>
            <a:r>
              <a:t>1. Parse Job Description requirements</a:t>
            </a:r>
            <a:br/>
            <a:br/>
            <a:r>
              <a:t>2. Query RAG vector database for top candidates</a:t>
            </a:r>
            <a:br/>
            <a:br/>
            <a:r>
              <a:t>3. Perform programmatical experience duration validation</a:t>
            </a:r>
            <a:br/>
            <a:br/>
            <a:r>
              <a:t>4. Dispatch selected profiles to LLM for precise match score</a:t>
            </a:r>
            <a:br/>
            <a:br/>
            <a:r>
              <a:t>5. Extract matching skills, missing gaps, and reasoning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F46E5"/>
                </a:solidFill>
                <a:latin typeface="Arial"/>
              </a:defRPr>
            </a:pPr>
            <a:r>
              <a:t>PIPELINE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Interactive Kanban Pipeline Board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2194560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20116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4F46E5"/>
                </a:solidFill>
              </a:defRPr>
            </a:pPr>
            <a:r>
              <a:t>Inbox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New email &amp; upload profiles.</a:t>
            </a:r>
          </a:p>
          <a:p>
            <a:pPr>
              <a:spcBef>
                <a:spcPts val="800"/>
              </a:spcBef>
              <a:defRPr sz="1050">
                <a:solidFill>
                  <a:srgbClr val="475569"/>
                </a:solidFill>
              </a:defRPr>
            </a:pPr>
            <a:r>
              <a:t>• Sourced email CVs</a:t>
            </a:r>
          </a:p>
          <a:p>
            <a:pPr>
              <a:spcBef>
                <a:spcPts val="800"/>
              </a:spcBef>
              <a:defRPr sz="1050">
                <a:solidFill>
                  <a:srgbClr val="475569"/>
                </a:solidFill>
              </a:defRPr>
            </a:pPr>
            <a:r>
              <a:t>• Manual file uploads</a:t>
            </a:r>
          </a:p>
          <a:p>
            <a:pPr>
              <a:spcBef>
                <a:spcPts val="800"/>
              </a:spcBef>
              <a:defRPr sz="1050">
                <a:solidFill>
                  <a:srgbClr val="475569"/>
                </a:solidFill>
              </a:defRPr>
            </a:pPr>
            <a:r>
              <a:t>• Duplicate prevention</a:t>
            </a:r>
          </a:p>
          <a:p>
            <a:pPr>
              <a:spcBef>
                <a:spcPts val="800"/>
              </a:spcBef>
              <a:defRPr sz="1050">
                <a:solidFill>
                  <a:srgbClr val="475569"/>
                </a:solidFill>
              </a:defRPr>
            </a:pPr>
            <a:r>
              <a:t>• OCR text fallback</a:t>
            </a:r>
          </a:p>
          <a:p>
            <a:pPr>
              <a:spcBef>
                <a:spcPts val="1600"/>
              </a:spcBef>
              <a:defRPr sz="1000" b="1">
                <a:solidFill>
                  <a:srgbClr val="4F46E5"/>
                </a:solidFill>
              </a:defRPr>
            </a:pPr>
            <a:r>
              <a:t>History &amp; Audit Logs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12110" y="1280160"/>
            <a:ext cx="2194560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803550" y="1371600"/>
            <a:ext cx="20116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E7490"/>
                </a:solidFill>
              </a:defRPr>
            </a:pPr>
            <a:r>
              <a:t>Shortlist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Selected fit profiles.</a:t>
            </a:r>
          </a:p>
          <a:p>
            <a:pPr>
              <a:spcBef>
                <a:spcPts val="800"/>
              </a:spcBef>
              <a:defRPr sz="1050">
                <a:solidFill>
                  <a:srgbClr val="475569"/>
                </a:solidFill>
              </a:defRPr>
            </a:pPr>
            <a:r>
              <a:t>• Experience math validation</a:t>
            </a:r>
          </a:p>
          <a:p>
            <a:pPr>
              <a:spcBef>
                <a:spcPts val="800"/>
              </a:spcBef>
              <a:defRPr sz="1050">
                <a:solidFill>
                  <a:srgbClr val="475569"/>
                </a:solidFill>
              </a:defRPr>
            </a:pPr>
            <a:r>
              <a:t>• Skill checks</a:t>
            </a:r>
          </a:p>
          <a:p>
            <a:pPr>
              <a:spcBef>
                <a:spcPts val="800"/>
              </a:spcBef>
              <a:defRPr sz="1050">
                <a:solidFill>
                  <a:srgbClr val="475569"/>
                </a:solidFill>
              </a:defRPr>
            </a:pPr>
            <a:r>
              <a:t>• Initial candidate review</a:t>
            </a:r>
          </a:p>
          <a:p>
            <a:pPr>
              <a:spcBef>
                <a:spcPts val="800"/>
              </a:spcBef>
              <a:defRPr sz="1050">
                <a:solidFill>
                  <a:srgbClr val="475569"/>
                </a:solidFill>
              </a:defRPr>
            </a:pPr>
            <a:r>
              <a:t>• Custom tags display</a:t>
            </a:r>
          </a:p>
          <a:p>
            <a:pPr>
              <a:spcBef>
                <a:spcPts val="1600"/>
              </a:spcBef>
              <a:defRPr sz="1000" b="1">
                <a:solidFill>
                  <a:srgbClr val="0E7490"/>
                </a:solidFill>
              </a:defRPr>
            </a:pPr>
            <a:r>
              <a:t>History &amp; Audit Logs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967020" y="1280160"/>
            <a:ext cx="2194560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58460" y="1371600"/>
            <a:ext cx="20116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B91C1C"/>
                </a:solidFill>
              </a:defRPr>
            </a:pPr>
            <a:r>
              <a:t>Interview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Scheduled panels &amp; tests.</a:t>
            </a:r>
          </a:p>
          <a:p>
            <a:pPr>
              <a:spcBef>
                <a:spcPts val="800"/>
              </a:spcBef>
              <a:defRPr sz="1050">
                <a:solidFill>
                  <a:srgbClr val="475569"/>
                </a:solidFill>
              </a:defRPr>
            </a:pPr>
            <a:r>
              <a:t>• Custom technical Q&amp;As</a:t>
            </a:r>
          </a:p>
          <a:p>
            <a:pPr>
              <a:spcBef>
                <a:spcPts val="800"/>
              </a:spcBef>
              <a:defRPr sz="1050">
                <a:solidFill>
                  <a:srgbClr val="475569"/>
                </a:solidFill>
              </a:defRPr>
            </a:pPr>
            <a:r>
              <a:t>• Custom HR Q&amp;As</a:t>
            </a:r>
          </a:p>
          <a:p>
            <a:pPr>
              <a:spcBef>
                <a:spcPts val="800"/>
              </a:spcBef>
              <a:defRPr sz="1050">
                <a:solidFill>
                  <a:srgbClr val="475569"/>
                </a:solidFill>
              </a:defRPr>
            </a:pPr>
            <a:r>
              <a:t>• Regenerable question bank</a:t>
            </a:r>
          </a:p>
          <a:p>
            <a:pPr>
              <a:spcBef>
                <a:spcPts val="800"/>
              </a:spcBef>
              <a:defRPr sz="1050">
                <a:solidFill>
                  <a:srgbClr val="475569"/>
                </a:solidFill>
              </a:defRPr>
            </a:pPr>
            <a:r>
              <a:t>• Checklists for interviewers</a:t>
            </a:r>
          </a:p>
          <a:p>
            <a:pPr>
              <a:spcBef>
                <a:spcPts val="1600"/>
              </a:spcBef>
              <a:defRPr sz="1000" b="1">
                <a:solidFill>
                  <a:srgbClr val="B91C1C"/>
                </a:solidFill>
              </a:defRPr>
            </a:pPr>
            <a:r>
              <a:t>History &amp; Audit Logs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21930" y="1280160"/>
            <a:ext cx="2194560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3370" y="1371600"/>
            <a:ext cx="20116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66534"/>
                </a:solidFill>
              </a:defRPr>
            </a:pPr>
            <a:r>
              <a:t>Offered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Fit profiles for hiring.</a:t>
            </a:r>
          </a:p>
          <a:p>
            <a:pPr>
              <a:spcBef>
                <a:spcPts val="800"/>
              </a:spcBef>
              <a:defRPr sz="1050">
                <a:solidFill>
                  <a:srgbClr val="475569"/>
                </a:solidFill>
              </a:defRPr>
            </a:pPr>
            <a:r>
              <a:t>• Profile score matching</a:t>
            </a:r>
          </a:p>
          <a:p>
            <a:pPr>
              <a:spcBef>
                <a:spcPts val="800"/>
              </a:spcBef>
              <a:defRPr sz="1050">
                <a:solidFill>
                  <a:srgbClr val="475569"/>
                </a:solidFill>
              </a:defRPr>
            </a:pPr>
            <a:r>
              <a:t>• Fit recommendations</a:t>
            </a:r>
          </a:p>
          <a:p>
            <a:pPr>
              <a:spcBef>
                <a:spcPts val="800"/>
              </a:spcBef>
              <a:defRPr sz="1050">
                <a:solidFill>
                  <a:srgbClr val="475569"/>
                </a:solidFill>
              </a:defRPr>
            </a:pPr>
            <a:r>
              <a:t>• Final review pipeline</a:t>
            </a:r>
          </a:p>
          <a:p>
            <a:pPr>
              <a:spcBef>
                <a:spcPts val="800"/>
              </a:spcBef>
              <a:defRPr sz="1050">
                <a:solidFill>
                  <a:srgbClr val="475569"/>
                </a:solidFill>
              </a:defRPr>
            </a:pPr>
            <a:r>
              <a:t>• Offer letter template</a:t>
            </a:r>
          </a:p>
          <a:p>
            <a:pPr>
              <a:spcBef>
                <a:spcPts val="1600"/>
              </a:spcBef>
              <a:defRPr sz="1000" b="1">
                <a:solidFill>
                  <a:srgbClr val="166534"/>
                </a:solidFill>
              </a:defRPr>
            </a:pPr>
            <a:r>
              <a:t>History &amp; Audit Logs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476840" y="1280160"/>
            <a:ext cx="2194560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68280" y="1371600"/>
            <a:ext cx="20116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475569"/>
                </a:solidFill>
              </a:defRPr>
            </a:pPr>
            <a:r>
              <a:t>Rejected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Archived applicant files.</a:t>
            </a:r>
          </a:p>
          <a:p>
            <a:pPr>
              <a:spcBef>
                <a:spcPts val="800"/>
              </a:spcBef>
              <a:defRPr sz="1050">
                <a:solidFill>
                  <a:srgbClr val="475569"/>
                </a:solidFill>
              </a:defRPr>
            </a:pPr>
            <a:r>
              <a:t>• Archive with reason</a:t>
            </a:r>
          </a:p>
          <a:p>
            <a:pPr>
              <a:spcBef>
                <a:spcPts val="800"/>
              </a:spcBef>
              <a:defRPr sz="1050">
                <a:solidFill>
                  <a:srgbClr val="475569"/>
                </a:solidFill>
              </a:defRPr>
            </a:pPr>
            <a:r>
              <a:t>• Searchable pool retention</a:t>
            </a:r>
          </a:p>
          <a:p>
            <a:pPr>
              <a:spcBef>
                <a:spcPts val="800"/>
              </a:spcBef>
              <a:defRPr sz="1050">
                <a:solidFill>
                  <a:srgbClr val="475569"/>
                </a:solidFill>
              </a:defRPr>
            </a:pPr>
            <a:r>
              <a:t>• Re-engagement rules</a:t>
            </a:r>
          </a:p>
          <a:p>
            <a:pPr>
              <a:spcBef>
                <a:spcPts val="800"/>
              </a:spcBef>
              <a:defRPr sz="1050">
                <a:solidFill>
                  <a:srgbClr val="475569"/>
                </a:solidFill>
              </a:defRPr>
            </a:pPr>
            <a:r>
              <a:t>• Timeline logs</a:t>
            </a:r>
          </a:p>
          <a:p>
            <a:pPr>
              <a:spcBef>
                <a:spcPts val="1600"/>
              </a:spcBef>
              <a:defRPr sz="1000" b="1">
                <a:solidFill>
                  <a:srgbClr val="475569"/>
                </a:solidFill>
              </a:defRPr>
            </a:pPr>
            <a:r>
              <a:t>History &amp; Audit Logs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F46E5"/>
                </a:solidFill>
                <a:latin typeface="Arial"/>
              </a:defRPr>
            </a:pPr>
            <a:r>
              <a:t>RECRUITER WORKSPACE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Slide-Out Details Drawer &amp; PDF Preview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5486400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51206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4F46E5"/>
                </a:solidFill>
              </a:defRPr>
            </a:pPr>
            <a:r>
              <a:t>CONTEXT RETAINED INTERFACE</a:t>
            </a:r>
          </a:p>
          <a:p>
            <a:pPr>
              <a:spcBef>
                <a:spcPts val="500"/>
              </a:spcBef>
              <a:defRPr sz="2200" b="1">
                <a:solidFill>
                  <a:srgbClr val="0F172A"/>
                </a:solidFill>
              </a:defRPr>
            </a:pPr>
            <a:r>
              <a:t>360° Candidate Profile View</a:t>
            </a:r>
          </a:p>
          <a:p>
            <a:pPr>
              <a:spcBef>
                <a:spcPts val="1400"/>
              </a:spcBef>
              <a:defRPr sz="1400">
                <a:solidFill>
                  <a:srgbClr val="475569"/>
                </a:solidFill>
              </a:defRPr>
            </a:pPr>
            <a:r>
              <a:t>• Employment Gap Detection: Automatically calculates total experience and logs detailed employment gap timelines.</a:t>
            </a:r>
          </a:p>
          <a:p>
            <a:pPr>
              <a:spcBef>
                <a:spcPts val="1400"/>
              </a:spcBef>
              <a:defRPr sz="1400">
                <a:solidFill>
                  <a:srgbClr val="475569"/>
                </a:solidFill>
              </a:defRPr>
            </a:pPr>
            <a:r>
              <a:t>• Interactive Side-by-Side: View candidate's original PDF/Docx alongside AI-structured data.</a:t>
            </a:r>
          </a:p>
          <a:p>
            <a:pPr>
              <a:spcBef>
                <a:spcPts val="1400"/>
              </a:spcBef>
              <a:defRPr sz="1400">
                <a:solidFill>
                  <a:srgbClr val="475569"/>
                </a:solidFill>
              </a:defRPr>
            </a:pPr>
            <a:r>
              <a:t>• Tabbed Detail Panels: Organizes structured data into Experience, Education, Projects, and customized Question-Answers.</a:t>
            </a:r>
          </a:p>
          <a:p>
            <a:pPr>
              <a:spcBef>
                <a:spcPts val="1400"/>
              </a:spcBef>
              <a:defRPr sz="1400">
                <a:solidFill>
                  <a:srgbClr val="475569"/>
                </a:solidFill>
              </a:defRPr>
            </a:pPr>
            <a:r>
              <a:t>• Audit Log Trail: Lists detailed profile history entries (Ingested, Stage Changed, Emailed).</a:t>
            </a:r>
          </a:p>
        </p:txBody>
      </p:sp>
      <p:pic>
        <p:nvPicPr>
          <p:cNvPr id="6" name="Picture 5" descr="media__178366514768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280160"/>
            <a:ext cx="548640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F46E5"/>
                </a:solidFill>
                <a:latin typeface="Arial"/>
              </a:defRPr>
            </a:pPr>
            <a:r>
              <a:t>PRE-SCREENING PREPARATION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Tailored Interview Question Generator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5486400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51206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4F46E5"/>
                </a:solidFill>
              </a:defRPr>
            </a:pPr>
            <a:r>
              <a:t>CANDIDATE-SPECIFIC CHECKS</a:t>
            </a:r>
          </a:p>
          <a:p>
            <a:pPr>
              <a:spcBef>
                <a:spcPts val="500"/>
              </a:spcBef>
              <a:defRPr sz="2200" b="1">
                <a:solidFill>
                  <a:srgbClr val="0F172A"/>
                </a:solidFill>
              </a:defRPr>
            </a:pPr>
            <a:r>
              <a:t>HR &amp; Technical Q&amp;A Generation</a:t>
            </a:r>
          </a:p>
          <a:p>
            <a:pPr>
              <a:spcBef>
                <a:spcPts val="1400"/>
              </a:spcBef>
              <a:defRPr sz="1400">
                <a:solidFill>
                  <a:srgbClr val="475569"/>
                </a:solidFill>
              </a:defRPr>
            </a:pPr>
            <a:r>
              <a:t>• Culture &amp; Behavioral Questions: Generates custom HR screening questions aligned with candidate seniority.</a:t>
            </a:r>
          </a:p>
          <a:p>
            <a:pPr>
              <a:spcBef>
                <a:spcPts val="1400"/>
              </a:spcBef>
              <a:defRPr sz="1400">
                <a:solidFill>
                  <a:srgbClr val="475569"/>
                </a:solidFill>
              </a:defRPr>
            </a:pPr>
            <a:r>
              <a:t>• Domain-Specific Questions: Inspects candidate skills to build custom technical evaluation questions.</a:t>
            </a:r>
          </a:p>
          <a:p>
            <a:pPr>
              <a:spcBef>
                <a:spcPts val="1400"/>
              </a:spcBef>
              <a:defRPr sz="1400">
                <a:solidFill>
                  <a:srgbClr val="475569"/>
                </a:solidFill>
              </a:defRPr>
            </a:pPr>
            <a:r>
              <a:t>• Expected Answer Guide: Supplies the correct expected answers for each question so any interviewer can grade responses.</a:t>
            </a:r>
          </a:p>
          <a:p>
            <a:pPr>
              <a:spcBef>
                <a:spcPts val="1400"/>
              </a:spcBef>
              <a:defRPr sz="1400">
                <a:solidFill>
                  <a:srgbClr val="475569"/>
                </a:solidFill>
              </a:defRPr>
            </a:pPr>
            <a:r>
              <a:t>• Regenerate on Demand: A simple button in the details panel lets users re-run AI generation to fresh sets.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280160"/>
            <a:ext cx="5486400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463040"/>
            <a:ext cx="51206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E7490"/>
                </a:solidFill>
              </a:defRPr>
            </a:pPr>
            <a:r>
              <a:t>COMPETENCY HIGHLIGHTING</a:t>
            </a:r>
          </a:p>
          <a:p>
            <a:pPr>
              <a:spcBef>
                <a:spcPts val="500"/>
              </a:spcBef>
              <a:defRPr sz="2200" b="1">
                <a:solidFill>
                  <a:srgbClr val="0F172A"/>
                </a:solidFill>
              </a:defRPr>
            </a:pPr>
            <a:r>
              <a:t>Importance Ratings &amp; Badging</a:t>
            </a:r>
          </a:p>
          <a:p>
            <a:pPr>
              <a:spcBef>
                <a:spcPts val="800"/>
              </a:spcBef>
              <a:defRPr sz="1300" b="1">
                <a:solidFill>
                  <a:srgbClr val="0F172A"/>
                </a:solidFill>
              </a:defRPr>
            </a:pPr>
            <a:r>
              <a:t>🔴 Must Ask / Very Important</a:t>
            </a:r>
          </a:p>
          <a:p>
            <a:pPr>
              <a:spcBef>
                <a:spcPts val="100"/>
              </a:spcBef>
              <a:defRPr sz="1150">
                <a:solidFill>
                  <a:srgbClr val="475569"/>
                </a:solidFill>
              </a:defRPr>
            </a:pPr>
            <a:r>
              <a:t>Critical questions targeting core skill gaps or mismatch points.</a:t>
            </a:r>
          </a:p>
          <a:p>
            <a:pPr>
              <a:spcBef>
                <a:spcPts val="800"/>
              </a:spcBef>
              <a:defRPr sz="1300" b="1">
                <a:solidFill>
                  <a:srgbClr val="0F172A"/>
                </a:solidFill>
              </a:defRPr>
            </a:pPr>
            <a:r>
              <a:t>🟠 Important</a:t>
            </a:r>
          </a:p>
          <a:p>
            <a:pPr>
              <a:spcBef>
                <a:spcPts val="100"/>
              </a:spcBef>
              <a:defRPr sz="1150">
                <a:solidFill>
                  <a:srgbClr val="475569"/>
                </a:solidFill>
              </a:defRPr>
            </a:pPr>
            <a:r>
              <a:t>Highlights crucial job description requirements.</a:t>
            </a:r>
          </a:p>
          <a:p>
            <a:pPr>
              <a:spcBef>
                <a:spcPts val="800"/>
              </a:spcBef>
              <a:defRPr sz="1300" b="1">
                <a:solidFill>
                  <a:srgbClr val="0F172A"/>
                </a:solidFill>
              </a:defRPr>
            </a:pPr>
            <a:r>
              <a:t>🟡 Good to Ask</a:t>
            </a:r>
          </a:p>
          <a:p>
            <a:pPr>
              <a:spcBef>
                <a:spcPts val="100"/>
              </a:spcBef>
              <a:defRPr sz="1150">
                <a:solidFill>
                  <a:srgbClr val="475569"/>
                </a:solidFill>
              </a:defRPr>
            </a:pPr>
            <a:r>
              <a:t>Helpful to confirm details, but not project blockers.</a:t>
            </a:r>
          </a:p>
          <a:p>
            <a:pPr>
              <a:spcBef>
                <a:spcPts val="800"/>
              </a:spcBef>
              <a:defRPr sz="1300" b="1">
                <a:solidFill>
                  <a:srgbClr val="0F172A"/>
                </a:solidFill>
              </a:defRPr>
            </a:pPr>
            <a:r>
              <a:t>🔵 Screening</a:t>
            </a:r>
          </a:p>
          <a:p>
            <a:pPr>
              <a:spcBef>
                <a:spcPts val="100"/>
              </a:spcBef>
              <a:defRPr sz="1150">
                <a:solidFill>
                  <a:srgbClr val="475569"/>
                </a:solidFill>
              </a:defRPr>
            </a:pPr>
            <a:r>
              <a:t>Rapid qualification checks (e.g. visa status, notice period).</a:t>
            </a:r>
          </a:p>
          <a:p>
            <a:pPr>
              <a:spcBef>
                <a:spcPts val="800"/>
              </a:spcBef>
              <a:defRPr sz="1300" b="1">
                <a:solidFill>
                  <a:srgbClr val="0F172A"/>
                </a:solidFill>
              </a:defRPr>
            </a:pPr>
            <a:r>
              <a:t>🟢 Optional</a:t>
            </a:r>
          </a:p>
          <a:p>
            <a:pPr>
              <a:spcBef>
                <a:spcPts val="100"/>
              </a:spcBef>
              <a:defRPr sz="1150">
                <a:solidFill>
                  <a:srgbClr val="475569"/>
                </a:solidFill>
              </a:defRPr>
            </a:pPr>
            <a:r>
              <a:t>Nice-to-have topics if interview time permits.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F46E5"/>
                </a:solidFill>
                <a:latin typeface="Arial"/>
              </a:defRPr>
            </a:pPr>
            <a:r>
              <a:t>RECRUITER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Inbox Management &amp; Real-Time Ingestion Logs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5486400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51206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4F46E5"/>
                </a:solidFill>
              </a:defRPr>
            </a:pPr>
            <a:r>
              <a:t>COMMUNICATION HUB</a:t>
            </a:r>
          </a:p>
          <a:p>
            <a:pPr>
              <a:spcBef>
                <a:spcPts val="500"/>
              </a:spcBef>
              <a:defRPr sz="2200" b="1">
                <a:solidFill>
                  <a:srgbClr val="0F172A"/>
                </a:solidFill>
              </a:defRPr>
            </a:pPr>
            <a:r>
              <a:t>Unified Sourcing Inbox</a:t>
            </a:r>
          </a:p>
          <a:p>
            <a:pPr>
              <a:spcBef>
                <a:spcPts val="1400"/>
              </a:spcBef>
              <a:defRPr sz="1350">
                <a:solidFill>
                  <a:srgbClr val="475569"/>
                </a:solidFill>
              </a:defRPr>
            </a:pPr>
            <a:r>
              <a:t>• Email Previews: Displays sender, subject, date, body snippet, and attachments directly in the app.</a:t>
            </a:r>
          </a:p>
          <a:p>
            <a:pPr>
              <a:spcBef>
                <a:spcPts val="1400"/>
              </a:spcBef>
              <a:defRPr sz="1350">
                <a:solidFill>
                  <a:srgbClr val="475569"/>
                </a:solidFill>
              </a:defRPr>
            </a:pPr>
            <a:r>
              <a:t>• AI Email Categorization: Labels emails into Resume, HR, Spam, Client, Interview, Notification, or Other.</a:t>
            </a:r>
          </a:p>
          <a:p>
            <a:pPr>
              <a:spcBef>
                <a:spcPts val="1400"/>
              </a:spcBef>
              <a:defRPr sz="1350">
                <a:solidFill>
                  <a:srgbClr val="475569"/>
                </a:solidFill>
              </a:defRPr>
            </a:pPr>
            <a:r>
              <a:t>• Email Send Modal: Compose and send messages to candidates with templates (Interview, Offer, Rejection) using mail servers.</a:t>
            </a:r>
          </a:p>
          <a:p>
            <a:pPr>
              <a:spcBef>
                <a:spcPts val="1400"/>
              </a:spcBef>
              <a:defRPr sz="1350">
                <a:solidFill>
                  <a:srgbClr val="475569"/>
                </a:solidFill>
              </a:defRPr>
            </a:pPr>
            <a:r>
              <a:t>• Auto-Process Toggle: Automatically ingests emails categorized as 'Resume' without human intervention.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280160"/>
            <a:ext cx="5486400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463040"/>
            <a:ext cx="51206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E7490"/>
                </a:solidFill>
              </a:defRPr>
            </a:pPr>
            <a:r>
              <a:t>INGESTION TRACKER</a:t>
            </a:r>
          </a:p>
          <a:p>
            <a:pPr>
              <a:spcBef>
                <a:spcPts val="500"/>
              </a:spcBef>
              <a:defRPr sz="2200" b="1">
                <a:solidFill>
                  <a:srgbClr val="0F172A"/>
                </a:solidFill>
              </a:defRPr>
            </a:pPr>
            <a:r>
              <a:t>Real-Time Processing Logs</a:t>
            </a:r>
          </a:p>
          <a:p>
            <a:pPr>
              <a:spcBef>
                <a:spcPts val="1400"/>
              </a:spcBef>
              <a:defRPr sz="1350">
                <a:solidFill>
                  <a:srgbClr val="475569"/>
                </a:solidFill>
              </a:defRPr>
            </a:pPr>
            <a:r>
              <a:t>• Status Monitoring: Real-time poller tracks uploads through states: Processing, Success, Failed, Duplicate, Cancelled.</a:t>
            </a:r>
          </a:p>
          <a:p>
            <a:pPr>
              <a:spcBef>
                <a:spcPts val="1400"/>
              </a:spcBef>
              <a:defRPr sz="1350">
                <a:solidFill>
                  <a:srgbClr val="475569"/>
                </a:solidFill>
              </a:defRPr>
            </a:pPr>
            <a:r>
              <a:t>• Error Diagnostics: Log details display the exact failure reasons (e.g. failed OCR, missing API keys) for debugging.</a:t>
            </a:r>
          </a:p>
          <a:p>
            <a:pPr>
              <a:spcBef>
                <a:spcPts val="1400"/>
              </a:spcBef>
              <a:defRPr sz="1350">
                <a:solidFill>
                  <a:srgbClr val="475569"/>
                </a:solidFill>
              </a:defRPr>
            </a:pPr>
            <a:r>
              <a:t>• Candidate Link: Clickable success links instantly open the parsed candidate details drawer.</a:t>
            </a:r>
          </a:p>
          <a:p>
            <a:pPr>
              <a:spcBef>
                <a:spcPts val="1400"/>
              </a:spcBef>
              <a:defRPr sz="1350">
                <a:solidFill>
                  <a:srgbClr val="475569"/>
                </a:solidFill>
              </a:defRPr>
            </a:pPr>
            <a:r>
              <a:t>• Channel Source: Traces manual upload vs Gmail vs Outlook sourcing pathways.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F46E5"/>
                </a:solidFill>
                <a:latin typeface="Arial"/>
              </a:defRPr>
            </a:pPr>
            <a:r>
              <a:t>DATA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Data Export Features &amp; Formats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3657600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32918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F46E5"/>
                </a:solidFill>
              </a:defRPr>
            </a:pPr>
            <a:r>
              <a:t>FORMAT 01</a:t>
            </a:r>
          </a:p>
          <a:p>
            <a:pPr>
              <a:spcBef>
                <a:spcPts val="1500"/>
              </a:spcBef>
              <a:defRPr sz="2000" b="1">
                <a:solidFill>
                  <a:srgbClr val="0F172A"/>
                </a:solidFill>
              </a:defRPr>
            </a:pPr>
            <a:r>
              <a:t>Pipeline CSV Export</a:t>
            </a:r>
          </a:p>
          <a:p>
            <a:pPr>
              <a:spcBef>
                <a:spcPts val="1200"/>
              </a:spcBef>
              <a:defRPr sz="1400">
                <a:solidFill>
                  <a:srgbClr val="475569"/>
                </a:solidFill>
              </a:defRPr>
            </a:pPr>
            <a:r>
              <a:t>Allows exporting filtered candidates based on stages and date ranges. Generates UTF-8 BOM CSV files with parsed work experience, education, scores, and skills.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66590" y="1280160"/>
            <a:ext cx="3657600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49470" y="1463040"/>
            <a:ext cx="32918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7490"/>
                </a:solidFill>
              </a:defRPr>
            </a:pPr>
            <a:r>
              <a:t>FORMAT 02</a:t>
            </a:r>
          </a:p>
          <a:p>
            <a:pPr>
              <a:spcBef>
                <a:spcPts val="1500"/>
              </a:spcBef>
              <a:defRPr sz="2000" b="1">
                <a:solidFill>
                  <a:srgbClr val="0F172A"/>
                </a:solidFill>
              </a:defRPr>
            </a:pPr>
            <a:r>
              <a:t>Tag Search CSV Export</a:t>
            </a:r>
          </a:p>
          <a:p>
            <a:pPr>
              <a:spcBef>
                <a:spcPts val="1200"/>
              </a:spcBef>
              <a:defRPr sz="1400">
                <a:solidFill>
                  <a:srgbClr val="475569"/>
                </a:solidFill>
              </a:defRPr>
            </a:pPr>
            <a:r>
              <a:t>Directly exports candidate search matches filtered by tag queries and seniority sliders to spreadsheets.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75980" y="1280160"/>
            <a:ext cx="3657600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58860" y="1463040"/>
            <a:ext cx="32918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66534"/>
                </a:solidFill>
              </a:defRPr>
            </a:pPr>
            <a:r>
              <a:t>FORMAT 03</a:t>
            </a:r>
          </a:p>
          <a:p>
            <a:pPr>
              <a:spcBef>
                <a:spcPts val="1500"/>
              </a:spcBef>
              <a:defRPr sz="2000" b="1">
                <a:solidFill>
                  <a:srgbClr val="0F172A"/>
                </a:solidFill>
              </a:defRPr>
            </a:pPr>
            <a:r>
              <a:t>Ingestion Log CSV</a:t>
            </a:r>
          </a:p>
          <a:p>
            <a:pPr>
              <a:spcBef>
                <a:spcPts val="1200"/>
              </a:spcBef>
              <a:defRPr sz="1400">
                <a:solidFill>
                  <a:srgbClr val="475569"/>
                </a:solidFill>
              </a:defRPr>
            </a:pPr>
            <a:r>
              <a:t>Exports tracker audits including filename, timestamp, sourcing channel, status, and failure logs for compliance audits.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F46E5"/>
                </a:solidFill>
                <a:latin typeface="Arial"/>
              </a:defRPr>
            </a:pPr>
            <a:r>
              <a:t>SECURITY &amp; RBAC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Authentication &amp; Role-Based Access Control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5486400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51206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4F46E5"/>
                </a:solidFill>
              </a:defRPr>
            </a:pPr>
            <a:r>
              <a:t>JWT AUTHENTICATION</a:t>
            </a:r>
          </a:p>
          <a:p>
            <a:pPr>
              <a:spcBef>
                <a:spcPts val="500"/>
              </a:spcBef>
              <a:defRPr sz="2200" b="1">
                <a:solidFill>
                  <a:srgbClr val="0F172A"/>
                </a:solidFill>
              </a:defRPr>
            </a:pPr>
            <a:r>
              <a:t>Session &amp; Cryptography</a:t>
            </a:r>
          </a:p>
          <a:p>
            <a:pPr>
              <a:spcBef>
                <a:spcPts val="1400"/>
              </a:spcBef>
              <a:defRPr sz="1400">
                <a:solidFill>
                  <a:srgbClr val="475569"/>
                </a:solidFill>
              </a:defRPr>
            </a:pPr>
            <a:r>
              <a:t>• JSON Web Tokens (JWT): Secures communications via token verification in headers or query params, set to expire in 24 hours.</a:t>
            </a:r>
          </a:p>
          <a:p>
            <a:pPr>
              <a:spcBef>
                <a:spcPts val="1400"/>
              </a:spcBef>
              <a:defRPr sz="1400">
                <a:solidFill>
                  <a:srgbClr val="475569"/>
                </a:solidFill>
              </a:defRPr>
            </a:pPr>
            <a:r>
              <a:t>• BCrypt Hashing: Encrypts passwords before storage in MongoDB to protect accounts.</a:t>
            </a:r>
          </a:p>
          <a:p>
            <a:pPr>
              <a:spcBef>
                <a:spcPts val="1400"/>
              </a:spcBef>
              <a:defRPr sz="1400">
                <a:solidFill>
                  <a:srgbClr val="475569"/>
                </a:solidFill>
              </a:defRPr>
            </a:pPr>
            <a:r>
              <a:t>• Candidate Sharing: Recruiters and admins can share specific candidate profiles with hiring managers via email assignment.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280160"/>
            <a:ext cx="5486400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463040"/>
            <a:ext cx="51206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E7490"/>
                </a:solidFill>
              </a:defRPr>
            </a:pPr>
            <a:r>
              <a:t>RBAC PERMISSIONS MATRIX</a:t>
            </a:r>
          </a:p>
          <a:p>
            <a:pPr>
              <a:spcBef>
                <a:spcPts val="500"/>
              </a:spcBef>
              <a:defRPr sz="2200" b="1">
                <a:solidFill>
                  <a:srgbClr val="0F172A"/>
                </a:solidFill>
              </a:defRPr>
            </a:pPr>
            <a:r>
              <a:t>User Roles &amp; Permissions</a:t>
            </a:r>
          </a:p>
          <a:p>
            <a:pPr>
              <a:spcBef>
                <a:spcPts val="1000"/>
              </a:spcBef>
              <a:defRPr sz="1350" b="1">
                <a:solidFill>
                  <a:srgbClr val="4F46E5"/>
                </a:solidFill>
              </a:defRPr>
            </a:pPr>
            <a:r>
              <a:t>1. Administrator (Admin)</a:t>
            </a:r>
          </a:p>
          <a:p>
            <a:pPr>
              <a:spcBef>
                <a:spcPts val="200"/>
              </a:spcBef>
              <a:defRPr sz="1200">
                <a:solidFill>
                  <a:srgbClr val="475569"/>
                </a:solidFill>
              </a:defRPr>
            </a:pPr>
            <a:r>
              <a:t>Complete workspace authority. Configures system settings, toggles email syncs, adds users, and manages databases.</a:t>
            </a:r>
          </a:p>
          <a:p>
            <a:pPr>
              <a:spcBef>
                <a:spcPts val="1000"/>
              </a:spcBef>
              <a:defRPr sz="1350" b="1">
                <a:solidFill>
                  <a:srgbClr val="4F46E5"/>
                </a:solidFill>
              </a:defRPr>
            </a:pPr>
            <a:r>
              <a:t>2. Recruiter</a:t>
            </a:r>
          </a:p>
          <a:p>
            <a:pPr>
              <a:spcBef>
                <a:spcPts val="200"/>
              </a:spcBef>
              <a:defRPr sz="1200">
                <a:solidFill>
                  <a:srgbClr val="475569"/>
                </a:solidFill>
              </a:defRPr>
            </a:pPr>
            <a:r>
              <a:t>Functional sourcing role. Can import profiles, trigger JD matches, update pipelines, compose emails, and run searches.</a:t>
            </a:r>
          </a:p>
          <a:p>
            <a:pPr>
              <a:spcBef>
                <a:spcPts val="1000"/>
              </a:spcBef>
              <a:defRPr sz="1350" b="1">
                <a:solidFill>
                  <a:srgbClr val="4F46E5"/>
                </a:solidFill>
              </a:defRPr>
            </a:pPr>
            <a:r>
              <a:t>3. Hiring Manager</a:t>
            </a:r>
          </a:p>
          <a:p>
            <a:pPr>
              <a:spcBef>
                <a:spcPts val="200"/>
              </a:spcBef>
              <a:defRPr sz="1200">
                <a:solidFill>
                  <a:srgbClr val="475569"/>
                </a:solidFill>
              </a:defRPr>
            </a:pPr>
            <a:r>
              <a:t>Restricted reviewer. Access is limited to candidate profiles explicitly assigned to them. Cannot edit, upload, or delete data.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F46E5"/>
                </a:solidFill>
                <a:latin typeface="Arial"/>
              </a:defRPr>
            </a:pPr>
            <a:r>
              <a:t>METRICS &amp; KPI MONITOR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Reporting &amp; Recruitment Analytics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548640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51206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4F46E5"/>
                </a:solidFill>
              </a:defRPr>
            </a:pPr>
            <a:r>
              <a:t>Conversion Funnel</a:t>
            </a:r>
          </a:p>
          <a:p>
            <a:pPr>
              <a:spcBef>
                <a:spcPts val="800"/>
              </a:spcBef>
              <a:defRPr sz="1350">
                <a:solidFill>
                  <a:srgbClr val="475569"/>
                </a:solidFill>
              </a:defRPr>
            </a:pPr>
            <a:r>
              <a:t>Visualizes conversion ratios from Sourced → Shortlisted → Interviewed → Offered.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280160"/>
            <a:ext cx="548640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463040"/>
            <a:ext cx="51206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0E7490"/>
                </a:solidFill>
              </a:defRPr>
            </a:pPr>
            <a:r>
              <a:t>Match Score Distribution</a:t>
            </a:r>
          </a:p>
          <a:p>
            <a:pPr>
              <a:spcBef>
                <a:spcPts val="800"/>
              </a:spcBef>
              <a:defRPr sz="1350">
                <a:solidFill>
                  <a:srgbClr val="475569"/>
                </a:solidFill>
              </a:defRPr>
            </a:pPr>
            <a:r>
              <a:t>Segments the database into Excellent (90-100), Good (70-89), Average, and Poor bands.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840480"/>
            <a:ext cx="548640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4023360"/>
            <a:ext cx="51206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66534"/>
                </a:solidFill>
              </a:defRPr>
            </a:pPr>
            <a:r>
              <a:t>Sourcing Channels</a:t>
            </a:r>
          </a:p>
          <a:p>
            <a:pPr>
              <a:spcBef>
                <a:spcPts val="800"/>
              </a:spcBef>
              <a:defRPr sz="1350">
                <a:solidFill>
                  <a:srgbClr val="475569"/>
                </a:solidFill>
              </a:defRPr>
            </a:pPr>
            <a:r>
              <a:t>Analyzes the intake volume of manual uploads vs Gmail vs Outlook integrations.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840480"/>
            <a:ext cx="548640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4023360"/>
            <a:ext cx="51206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B91C1C"/>
                </a:solidFill>
              </a:defRPr>
            </a:pPr>
            <a:r>
              <a:t>Talent Seniority Segments</a:t>
            </a:r>
          </a:p>
          <a:p>
            <a:pPr>
              <a:spcBef>
                <a:spcPts val="800"/>
              </a:spcBef>
              <a:defRPr sz="1350">
                <a:solidFill>
                  <a:srgbClr val="475569"/>
                </a:solidFill>
              </a:defRPr>
            </a:pPr>
            <a:r>
              <a:t>Graphs candidate pools across Junior, Mid, Senior, Lead, and Executive levels.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F46E5"/>
                </a:solidFill>
                <a:latin typeface="Arial"/>
              </a:defRPr>
            </a:pPr>
            <a:r>
              <a:t>THE END-TO-END SUITE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Platform Summary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548640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51206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4F46E5"/>
                </a:solidFill>
              </a:defRPr>
            </a:pPr>
            <a:r>
              <a:t>Automated Sourcing</a:t>
            </a:r>
          </a:p>
          <a:p>
            <a:pPr>
              <a:spcBef>
                <a:spcPts val="1000"/>
              </a:spcBef>
              <a:defRPr sz="1400">
                <a:solidFill>
                  <a:srgbClr val="475569"/>
                </a:solidFill>
              </a:defRPr>
            </a:pPr>
            <a:r>
              <a:t>Monitors mailboxes dynamically for applicant resume attachments.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280160"/>
            <a:ext cx="548640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463040"/>
            <a:ext cx="51206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E7490"/>
                </a:solidFill>
              </a:defRPr>
            </a:pPr>
            <a:r>
              <a:t>Structured Parsing</a:t>
            </a:r>
          </a:p>
          <a:p>
            <a:pPr>
              <a:spcBef>
                <a:spcPts val="1000"/>
              </a:spcBef>
              <a:defRPr sz="1400">
                <a:solidFill>
                  <a:srgbClr val="475569"/>
                </a:solidFill>
              </a:defRPr>
            </a:pPr>
            <a:r>
              <a:t>Hybrid PDF parser &amp; OCR extractor structure documents cleanly.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840480"/>
            <a:ext cx="548640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4023360"/>
            <a:ext cx="51206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66534"/>
                </a:solidFill>
              </a:defRPr>
            </a:pPr>
            <a:r>
              <a:t>Intelligent Search</a:t>
            </a:r>
          </a:p>
          <a:p>
            <a:pPr>
              <a:spcBef>
                <a:spcPts val="1000"/>
              </a:spcBef>
              <a:defRPr sz="1400">
                <a:solidFill>
                  <a:srgbClr val="475569"/>
                </a:solidFill>
              </a:defRPr>
            </a:pPr>
            <a:r>
              <a:t>Semantic RAG &amp; high-speed keyword systems optimize discovery.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840480"/>
            <a:ext cx="548640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4023360"/>
            <a:ext cx="51206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B91C1C"/>
                </a:solidFill>
              </a:defRPr>
            </a:pPr>
            <a:r>
              <a:t>Pipeline Management</a:t>
            </a:r>
          </a:p>
          <a:p>
            <a:pPr>
              <a:spcBef>
                <a:spcPts val="1000"/>
              </a:spcBef>
              <a:defRPr sz="1400">
                <a:solidFill>
                  <a:srgbClr val="475569"/>
                </a:solidFill>
              </a:defRPr>
            </a:pPr>
            <a:r>
              <a:t>Job Description matching, custom Q&amp;A arrays, and visual Kanban flow.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457200"/>
            <a:ext cx="11277295" cy="5943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4F46E5"/>
                </a:solidFill>
                <a:latin typeface="Arial"/>
              </a:defRPr>
            </a:pPr>
            <a:r>
              <a:t>Thank You</a:t>
            </a:r>
          </a:p>
          <a:p>
            <a:pPr algn="ctr">
              <a:spcBef>
                <a:spcPts val="1500"/>
              </a:spcBef>
              <a:defRPr sz="2400" b="1">
                <a:solidFill>
                  <a:srgbClr val="0F172A"/>
                </a:solidFill>
              </a:defRPr>
            </a:pPr>
            <a:r>
              <a:t>Transform Recruitment with Intelligent Automation</a:t>
            </a:r>
          </a:p>
          <a:p>
            <a:pPr algn="ctr">
              <a:spcBef>
                <a:spcPts val="2000"/>
              </a:spcBef>
              <a:defRPr sz="1500">
                <a:solidFill>
                  <a:srgbClr val="475569"/>
                </a:solidFill>
              </a:defRPr>
            </a:pPr>
            <a:r>
              <a:t>Simplify Sourcing, Evaluation, and Pipeline Management.</a:t>
            </a:r>
            <a:br/>
            <a:r>
              <a:t>Explore the platform capabilities today.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