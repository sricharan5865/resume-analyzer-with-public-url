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</a:defRPr>
            </a:pPr>
            <a:r>
              <a:t>TALENTFLOW</a:t>
            </a:r>
          </a:p>
          <a:p>
            <a:pPr algn="ctr"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AI-Powered Recruitment &amp; RAG Sourcing Suite</a:t>
            </a:r>
          </a:p>
          <a:p>
            <a:pPr algn="ctr"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Sourcing, Parsing, Matching, Question Generation, and Pipeline Management in One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VISION &amp; VALUE 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Summary: Redefining Talent Acquisition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01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Smart Sourcing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Automatically reads incoming resume attachments from email and extracts text from low-contrast scans using Python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Semantic Matching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Scores and ranks candidates against natural-language Job Descriptions using vector search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03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Audited Reliability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Eliminates AI hallucinations mathematically using a programmatic experience safety filter.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 Statement: The Recruiter's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7185"/>
                </a:solidFill>
              </a:defRPr>
            </a:pPr>
            <a:r>
              <a:t>Recruiters are drowning in administrative tasks, missing out on top talent.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Extreme Pre-Screening Volume: Recruiters spend hours manually filtering hundreds of unqualified resumes.</a:t>
            </a:r>
            <a:br/>
            <a:br/>
            <a:r>
              <a:t>• Legacy ATS Keyword Traps: Traditional systems miss highly qualified candidates simply because they use synonyms instead of exact keywords.</a:t>
            </a:r>
            <a:br/>
            <a:br/>
            <a:r>
              <a:t>• Sourcing channels are fragmented: Emails, portals, direct uploads, etc. lead to lost candidate profiles.</a:t>
            </a:r>
            <a:br/>
            <a:br/>
            <a:r>
              <a:t>• Time-to-Hire stretches over weeks: Top talent accepts competing offers before interviews can be scheduled.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KEYWORD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Keyword Trap: Legacy ATS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LEGACY KEYWORD FILTERS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Rigid and Non-Intuitive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Syntactic Matching: Rejects candidates who use synonyms instead of exact keywords (e.g. searching 'NodeJS' misses 'Express Developer').</a:t>
            </a:r>
            <a:br/>
            <a:br/>
            <a:r>
              <a:t>• Keyword Stuffing: Unqualified candidates game the system by pasting hidden keywords in their CV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951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737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TALENTFLOW SEMANTIC RAG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Conceptual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Vector Embeddings: Understands core concepts, related technical packages, and equivalent roles natively.</a:t>
            </a:r>
            <a:br/>
            <a:br/>
            <a:r>
              <a:t>• Senses Experience Depth: Prioritizes skills based on time duration and impact descriptions in previous roles.</a:t>
            </a:r>
            <a:br/>
            <a:br/>
            <a:r>
              <a:t>• Intent-Based Queries: Search matches are returned based on what recruiters *mean*, not just specific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RELIABILITY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AI Deficit: LLM Hallucinations &amp; Dynamic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RAW LLM HALLUCINATIONS &amp; DATE BUGS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The AI Deficit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Static Context: LLMs don't know 'today's date' natively. They miscalculate durations for roles ending in 'Present'.</a:t>
            </a:r>
            <a:br/>
            <a:br/>
            <a:r>
              <a:t>• Syntactic Math Failures: AI models fail to compute sum timelines properly, flagging a candidate with 8 years of experience as missing a '5+ years'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951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737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TALENTFLOW ENGINEERING SAFEGUARDS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Structured Validation Layers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Dynamic Date Injection: Injecting context date on every API call allows the parser to compute relative dates reliably.</a:t>
            </a:r>
            <a:br/>
            <a:br/>
            <a:r>
              <a:t>• Programmatic Safety Filters: Post-processing code intercepts and validates LLM findings against mathematical candidate histories.</a:t>
            </a:r>
            <a:br/>
            <a:br/>
            <a:r>
              <a:t>• Hardened Token Configurations: Limits outputs and applies robust bracket repair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HOW WE SOLVE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Solution: Resilient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The TalentFlow Command Center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Automated Pipeline: Sourcing, reading, and parsing directly from emails.</a:t>
            </a:r>
            <a:br/>
            <a:br/>
            <a:r>
              <a:t>• Semantic RAG Matching: Discovers intent and actual skills rather than raw keywords.</a:t>
            </a:r>
            <a:br/>
            <a:br/>
            <a:r>
              <a:t>• Programmatic Guardrails: Math-backed safety filters correct AI timeline hallucinations.</a:t>
            </a:r>
          </a:p>
        </p:txBody>
      </p:sp>
      <p:pic>
        <p:nvPicPr>
          <p:cNvPr id="6" name="Picture 5" descr="media__1783665147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INGESTION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Hybrid Ingestion &amp; OCR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Manual Portal Upload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Recruiters upload standard PDF resumes directly. Node-Multer manages secure disk upload storage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Scheduled Email Sourcing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Cron scheduler loops (Gmail/Outlook) pull CV attachments automatically, categorizing them using AI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Python OCR Fallback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Scanned or low-contrast PDFs trigger Python routines (OpenCV preprocessing, PyMuPDF, and Tesseract-OCR) to capture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LLM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1: Multi-Provider AI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366F1"/>
                </a:solidFill>
              </a:defRPr>
            </a:pPr>
            <a:r>
              <a:t>Complete control over your artificial intelligence backend.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Model Versatility: Switch backend APIs seamlessly between Grok 4.5, OpenAI GPT-4o, Google Gemini, Anthropic Claude, and open-source models.</a:t>
            </a:r>
            <a:br/>
            <a:br/>
            <a:r>
              <a:t>• Local Offline Execution: Connects to local Ollama endpoints (supporting Llama 3, Qwen, etc.) for absolute data privacy and offline pre-screening.</a:t>
            </a:r>
            <a:br/>
            <a:br/>
            <a:r>
              <a:t>• Intelligent Prompt Optimization: Compresses prompts dynamically to decrease latency on local models and prevent context bottlenecks.</a:t>
            </a:r>
            <a:br/>
            <a:br/>
            <a:r>
              <a:t>• Settings Dashboard: Recruiter HUD panel to configure, test, and save provider API keys securely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EMAIL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2: Automated Email Polling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Connecting directly to standard sourcing mailboxes.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Gmail &amp; Outlook Office 365: Out-of-the-box integration with Google Gmail and Microsoft Graph APIs.</a:t>
            </a:r>
            <a:br/>
            <a:br/>
            <a:r>
              <a:t>• Scheduled Cron Polling: Runs an automated cron poller background task to fetch incoming recruitment emails.</a:t>
            </a:r>
            <a:br/>
            <a:br/>
            <a:r>
              <a:t>• Auto-Classification: Uses LLM classifiers to read email body, filter spam, and detect attached PDF resumes automatically.</a:t>
            </a:r>
            <a:br/>
            <a:br/>
            <a:r>
              <a:t>• UI Ingestion Queue: Renders active email queues inside the dashboard, letting recruiters manually trigger parses or dismiss emails in bulk.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INGESTION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3: Resume Ingestion Tracker &amp;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7185"/>
                </a:solidFill>
              </a:defRPr>
            </a:pPr>
            <a:r>
              <a:t>Live monitoring of upload queues and extraction progress.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Parallel Batch Uploads: Supports drag-and-drop parsing of multiple PDF resume files in parallel.</a:t>
            </a:r>
            <a:br/>
            <a:br/>
            <a:r>
              <a:t>• Live Status HUD: Shows real-time progress bars for each file (uploading ➔ text extraction ➔ AI parsing ➔ scoring ➔ saved).</a:t>
            </a:r>
            <a:br/>
            <a:br/>
            <a:r>
              <a:t>• Comprehensive Auditing: Standardized logs capturing successful ingestions and detailed error stacks.</a:t>
            </a:r>
            <a:br/>
            <a:br/>
            <a:r>
              <a:t>• Error Recovery: Proactively monitors and logs API limit failures (e.g., OpenRouter credit issues, model timeouts).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4: Dynamic Match Scoring &amp;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Objective, multi-dimensional candidate evaluation.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Real-Time JD Matching: Pasting a natural language Job Description instantly calculates a compatibility score (0-100%).</a:t>
            </a:r>
            <a:br/>
            <a:br/>
            <a:r>
              <a:t>• Dual Evaluation Modes: Switch between 'Match According to Job Description' and 'General Own Category Score' for flexible ranking.</a:t>
            </a:r>
            <a:br/>
            <a:br/>
            <a:r>
              <a:t>• Direct Skill Mapping: Visualizes 'Matching Skills' and 'Missing Skills' side-by-side using red/green badges.</a:t>
            </a:r>
            <a:br/>
            <a:br/>
            <a:r>
              <a:t>• Auto-sorting: Automatically orders the recruiter pipeline by the highest compatibility rank to highlight top profiles.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PIPELINE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Pipeline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2020147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Inbox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New applications gathered from email and portals.</a:t>
            </a:r>
          </a:p>
          <a:p>
            <a:pPr>
              <a:spcBef>
                <a:spcPts val="1500"/>
              </a:spcBef>
              <a:defRPr sz="1100">
                <a:solidFill>
                  <a:srgbClr val="9CA3A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2020147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Shortlist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Candidates matching key credentials.</a:t>
            </a:r>
          </a:p>
          <a:p>
            <a:pPr>
              <a:spcBef>
                <a:spcPts val="1500"/>
              </a:spcBef>
              <a:defRPr sz="1100">
                <a:solidFill>
                  <a:srgbClr val="9CA3A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11680" cy="2020147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Interview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Scheduled and mapped in recruiter lists.</a:t>
            </a:r>
          </a:p>
          <a:p>
            <a:pPr>
              <a:spcBef>
                <a:spcPts val="1500"/>
              </a:spcBef>
              <a:defRPr sz="1100">
                <a:solidFill>
                  <a:srgbClr val="9CA3A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011680" cy="2020147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Offered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Pre-screened and approved profiles.</a:t>
            </a:r>
          </a:p>
          <a:p>
            <a:pPr>
              <a:spcBef>
                <a:spcPts val="1500"/>
              </a:spcBef>
              <a:defRPr sz="1100">
                <a:solidFill>
                  <a:srgbClr val="9CA3A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11680" cy="2020147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A3AF"/>
                </a:solidFill>
              </a:defRPr>
            </a:pPr>
            <a:r>
              <a:t>Rejected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Archived files with clear reasons.</a:t>
            </a:r>
          </a:p>
          <a:p>
            <a:pPr>
              <a:spcBef>
                <a:spcPts val="1500"/>
              </a:spcBef>
              <a:defRPr sz="1100">
                <a:solidFill>
                  <a:srgbClr val="9CA3A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PRE-SCREEN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Double Question Banks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019213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HR PRE-SCREENING ASSISTANT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14 Standardized HR Questions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First 7: Standardized screening questions automatically prepended.</a:t>
            </a:r>
            <a:br/>
            <a:r>
              <a:t>• Last 7: Dynamic, AI-generated questions tailored to the candidate's specific background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9512" cy="3019212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737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TECHNICAL KNOWLEDGE AUDIT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Custom Tech Q&amp;A Panel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Experience-Specific: Focuses on frameworks, databases, and architectures listed in their candidate profile.</a:t>
            </a:r>
            <a:br/>
            <a:r>
              <a:t>• On-Demand Refresh: A single click triggers backend regeneration, refreshing questions directly.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AI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Semantic RAG Search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VECTOR REPRESENTATIONS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Embedding &amp; Indexing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Semantic Vector Indexing: Translates parsed resume descriptions into high-dimensional vector representations.</a:t>
            </a:r>
            <a:br/>
            <a:r>
              <a:t>• In-Memory Fast Retrieval: Executes similarity vector searches across candidate profiles instantly in the backend.</a:t>
            </a:r>
            <a:br/>
            <a:r>
              <a:t>• Contextual Matching: Identifies candidates based on experience definitions, not just literal keyword spelling.</a:t>
            </a:r>
          </a:p>
        </p:txBody>
      </p:sp>
      <p:pic>
        <p:nvPicPr>
          <p:cNvPr id="6" name="Picture 5" descr="media__1783665147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9" y="1371600"/>
            <a:ext cx="591142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CANDIDATE OUTREACH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9: Integrated Communication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366F1"/>
                </a:solidFill>
              </a:defRPr>
            </a:pPr>
            <a:r>
              <a:t>Send custom technical outreach letters directly from the dashboard.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Direct Email Client: Trigger email outreach modals directly from the Candidate Details panel.</a:t>
            </a:r>
            <a:br/>
            <a:br/>
            <a:r>
              <a:t>• AI Email Drafter: Instantly generates personalized invitation/offer emails tailored to candidate's skills.</a:t>
            </a:r>
            <a:br/>
            <a:br/>
            <a:r>
              <a:t>• Outbox Logger: Logs history of emails sent (timestamps and contents) on the candidate's activity timeline.</a:t>
            </a:r>
            <a:br/>
            <a:br/>
            <a:r>
              <a:t>• SMTP Integration: Connects seamlessly with standard SMTP services or custom mail APIs configured in server environments.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 &amp; Governance: Role-Based Access Control</a:t>
            </a:r>
          </a:p>
        </p:txBody>
      </p:sp>
      <p:pic>
        <p:nvPicPr>
          <p:cNvPr id="4" name="Picture 3" descr="media__1783665147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ROI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Business Value: ROI &amp; Metric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B7185"/>
                </a:solidFill>
              </a:defRPr>
            </a:pPr>
            <a:r>
              <a:t>-90%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Screening Overhead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Eliminates administrative burden, moving candidates from upload to first contact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</a:defRPr>
            </a:pPr>
            <a:r>
              <a:t>+80%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Matching Accuracy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Semantic vector queries prevent qualified candidates from being rejected by legacy keyword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2C55E"/>
                </a:solidFill>
              </a:defRPr>
            </a:pPr>
            <a:r>
              <a:t>100%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Reliability Guarantee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Algorithmic safety filters eliminate date-math mistakes and LLM hallucinations.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FFFFFF"/>
                </a:solidFill>
              </a:defRPr>
            </a:pPr>
            <a:r>
              <a:t>Empowering Recruitment Teams with Accurate AI</a:t>
            </a:r>
          </a:p>
          <a:p>
            <a:pPr algn="ctr">
              <a:spcBef>
                <a:spcPts val="1000"/>
              </a:spcBef>
              <a:defRPr sz="1600">
                <a:solidFill>
                  <a:srgbClr val="9CA3AF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1422</Words>
  <Application>Microsoft Office PowerPoint</Application>
  <PresentationFormat>Widescreen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JAYAVARAPU SRI CHARAN</cp:lastModifiedBy>
  <cp:revision>2</cp:revision>
  <dcterms:created xsi:type="dcterms:W3CDTF">2013-01-27T09:14:16Z</dcterms:created>
  <dcterms:modified xsi:type="dcterms:W3CDTF">2026-07-11T16:43:24Z</dcterms:modified>
  <cp:category/>
</cp:coreProperties>
</file>